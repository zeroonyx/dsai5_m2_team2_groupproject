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70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2363FD-5BDA-47CF-89EC-50B998A2FFEE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EA260-268B-43D7-8913-4563CE66633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75349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>
          <a:extLst>
            <a:ext uri="{FF2B5EF4-FFF2-40B4-BE49-F238E27FC236}">
              <a16:creationId xmlns:a16="http://schemas.microsoft.com/office/drawing/2014/main" id="{ACEA0A2D-329F-3CC6-CCDD-F757D16D9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>
            <a:extLst>
              <a:ext uri="{FF2B5EF4-FFF2-40B4-BE49-F238E27FC236}">
                <a16:creationId xmlns:a16="http://schemas.microsoft.com/office/drawing/2014/main" id="{355A474C-B292-A218-B11B-BCAA4ABD8B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:notes">
            <a:extLst>
              <a:ext uri="{FF2B5EF4-FFF2-40B4-BE49-F238E27FC236}">
                <a16:creationId xmlns:a16="http://schemas.microsoft.com/office/drawing/2014/main" id="{F95241D5-0A73-F645-6788-AEF12A0EB1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50836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2D9D5-F390-FBCE-9006-A40DE8BD88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CD6B15-6A40-8EB9-F1D6-9A3CDDA9C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B96D-789E-74F7-BD54-91CF1194A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D772-CE15-491C-8C22-273877984826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543B7-1D56-696B-22AB-58B86411E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F2140-A9B9-C10C-D31D-2460D2AD7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3F052-6C99-49D1-9124-2A37A8F6F7A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17135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59970-F4C4-0608-0956-61D438781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03256-B839-4600-3DD3-3CDE4939B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88D5E-4498-F722-289F-50A275FE6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D772-CE15-491C-8C22-273877984826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DC47F-4009-D16A-AD9D-2128CF833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D9D2C-4D98-582E-3D13-C0702FCC6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3F052-6C99-49D1-9124-2A37A8F6F7A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35066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CDA21-222F-8B8A-A65B-7B4173398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A9D7A-D38A-14BC-8707-A5AEBE276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C48C6-573A-7772-8DC0-15F70D931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D772-CE15-491C-8C22-273877984826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D8A06-F5D3-C200-C5B3-9AF684161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4B625-A9D5-FAA5-4247-1B14AFCB3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3F052-6C99-49D1-9124-2A37A8F6F7A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88671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4BED6-CA35-BA38-719D-D47D8BE9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BA05D-2C09-8CF7-73FB-5CE103766B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A804D6-7CED-AB0F-1B08-59086331C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CBF4E-7162-4835-28D2-1F9D8E877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D772-CE15-491C-8C22-273877984826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189B2-2C59-871E-A97C-DB81E3E74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61D91-A56C-B02B-5445-F614DA11B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3F052-6C99-49D1-9124-2A37A8F6F7A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00623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730FB-3499-B8FA-DB34-6C535AB78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4FCAC-F38A-FFEF-E7D5-D7D247B1C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A2F334-91BD-31FF-8358-0418887DD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83BFD5-B175-9F8F-412E-F11015751E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1615B-36FE-E6FD-754F-080A2ADB08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D5627C-84B6-A102-D96E-D594F0DC0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D772-CE15-491C-8C22-273877984826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0EBB9-DEFA-8AF7-EFB4-8B71F0F8F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786AFC-4C4A-7D95-A2B1-B060679DC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3F052-6C99-49D1-9124-2A37A8F6F7A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46534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33161-D775-112F-6DEC-534BC0F6D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A1BCA0-8659-7724-65A2-AD2883179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D772-CE15-491C-8C22-273877984826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C2D3EA-EEE1-6035-957A-40076EE05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99B57-08E6-EA4B-B156-F9751887F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3F052-6C99-49D1-9124-2A37A8F6F7A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54079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485AEE-6343-6BBC-E617-D2D40827A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D772-CE15-491C-8C22-273877984826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BC20C8-09D6-0C7A-5A5C-C15A79C9C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A0879-C478-CC75-4781-91C49C7A4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3F052-6C99-49D1-9124-2A37A8F6F7A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43827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9F11E-BDB3-4789-4D96-FC833BE4D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B3990-A463-31B4-A2CD-4E0B52CE7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B19D9A-374F-F6EC-E25F-001ABEDE8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C34AB-7371-9920-F2D7-DE23EABC3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D772-CE15-491C-8C22-273877984826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A45A1-D6E7-DB3C-52FE-57F49BD8C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A03A1-C535-14A9-BD67-D644A5F6B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3F052-6C99-49D1-9124-2A37A8F6F7A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90429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4D955-D3EF-20A2-20B0-89C2DEA0D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E7592A-52E9-E684-2963-16DC8E936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46F26-E60F-F57F-2D5C-0DFA95A6D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320DB-D77E-E41A-B769-7F612BA3A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D772-CE15-491C-8C22-273877984826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60A45-1509-F356-7B53-CAC23838E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890CB5-F72C-7946-0893-2CB56AB24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3F052-6C99-49D1-9124-2A37A8F6F7A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17850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A8B01-8CE8-E31D-5E5F-3EA2B8766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E186BB-6D0E-2C32-77B3-C671148B9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66A02-E23B-AE03-AD27-26F382277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D772-CE15-491C-8C22-273877984826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4E6C3-7C07-20E2-0650-FB0146C45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F1F6E-EBA0-C5CC-8707-E49B9D41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3F052-6C99-49D1-9124-2A37A8F6F7A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1562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3E341C-1A89-D43D-EFB3-7C62F6139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272225-CA24-FCDF-0CC0-CDA2A2241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E6A41-457F-AB12-401D-E0888FC6F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7D772-CE15-491C-8C22-273877984826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A7497-9FF8-7C48-392B-8383BEECA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2707A-A85F-CEC5-660B-60177AF33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3F052-6C99-49D1-9124-2A37A8F6F7A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6922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D32F85-9464-DF32-D0B4-502616926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CB7AD-7E20-71F5-DD6E-B067A3C0B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42244-E0D2-F259-8D2C-336F161A2E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B7D772-CE15-491C-8C22-273877984826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38BA5-55D6-D22B-83CA-3682CABD50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5F311-A12E-B322-9EF7-31D1D8200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73F052-6C99-49D1-9124-2A37A8F6F7A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51046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147887" y="800100"/>
            <a:ext cx="78962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2DD4BF"/>
                </a:solidFill>
                <a:latin typeface="Inter Medium"/>
                <a:ea typeface="Inter Medium"/>
                <a:cs typeface="Inter Medium"/>
                <a:sym typeface="Inter Medium"/>
              </a:rPr>
              <a:t>OLIST E-COMMERCE ANALYTICS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147887" y="1394370"/>
            <a:ext cx="8291036" cy="1718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 dirty="0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Delivery Performance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150" b="1" i="0" u="none" strike="noStrike" cap="none" dirty="0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 Optimization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147887" y="3493442"/>
            <a:ext cx="7896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NTU SCTP DSAI COHORT 5 | TEAM 2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Ethan, Reeve, Tony, Nainar, Tom, 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Shicong</a:t>
            </a:r>
            <a:endParaRPr dirty="0"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0500" y="3905250"/>
            <a:ext cx="3810000" cy="25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1782"/>
            <a:ext cx="5238750" cy="2232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351782"/>
            <a:ext cx="5238750" cy="223257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4965352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Value Proposition: Empowering operations through SLA optimization and enhanced partner accountability.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2742307"/>
            <a:ext cx="468058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Core Purpose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3199507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Identify operational bottlenecks in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Olist's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fulfillment process by isolating </a:t>
            </a:r>
            <a:r>
              <a:rPr lang="en-US" sz="13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seller processing lag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from </a:t>
            </a:r>
            <a:r>
              <a:rPr lang="en-US" sz="13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carrier transit variance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6772275" y="2742307"/>
            <a:ext cx="468058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Strategic Focus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6772275" y="3199507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Targeting outlier management (e.g., severe delays in Rio de Janeiro) and improving </a:t>
            </a:r>
            <a:r>
              <a:rPr lang="en-US" sz="13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delivery estimation accuracy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to reduce customer churn.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809625" y="571500"/>
            <a:ext cx="1135141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EXECUTIVE SUMMARY</a:t>
            </a:r>
            <a:endParaRPr dirty="0"/>
          </a:p>
        </p:txBody>
      </p:sp>
      <p:sp>
        <p:nvSpPr>
          <p:cNvPr id="102" name="Google Shape;102;p14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13669"/>
            <a:ext cx="3492549" cy="3335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13669"/>
            <a:ext cx="3492549" cy="3335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13669"/>
            <a:ext cx="3492549" cy="333553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962025" y="3261419"/>
            <a:ext cx="284707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Early Delivery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962025" y="3718619"/>
            <a:ext cx="271149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90.62%</a:t>
            </a:r>
            <a:endParaRPr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962025" y="4164359"/>
            <a:ext cx="27114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Suggests over-pessimistic estimation bias at checkout to protect reputation.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4740324" y="3261419"/>
            <a:ext cx="284707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Late Delivery</a:t>
            </a:r>
            <a:endParaRPr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4740324" y="3718619"/>
            <a:ext cx="271149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6.59%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4740324" y="4164359"/>
            <a:ext cx="27114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Baseline failure rate driving negative reviews and high support tickets.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8518624" y="3261419"/>
            <a:ext cx="284707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On-Time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8518624" y="3718619"/>
            <a:ext cx="271149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2.78%</a:t>
            </a:r>
            <a:endParaRPr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8518624" y="4164359"/>
            <a:ext cx="27114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Deliveries landing precisely inside the final committed SLA window.</a:t>
            </a:r>
            <a:endParaRPr dirty="0"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64229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324" y="264229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624" y="264229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809625" y="571500"/>
            <a:ext cx="1135141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TIMELINE PERFORMANCE METRICS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76375"/>
            <a:ext cx="11351418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4612034"/>
            <a:ext cx="11049000" cy="55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Insight: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Operational red flag at the warehouse level. Over 40% of delays occur </a:t>
            </a:r>
            <a:r>
              <a:rPr lang="en-US" sz="1350" b="0" i="1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before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carrier receives the package, highlighting inventory picking lags.</a:t>
            </a:r>
            <a:endParaRPr dirty="0"/>
          </a:p>
        </p:txBody>
      </p:sp>
      <p:sp>
        <p:nvSpPr>
          <p:cNvPr id="132" name="Google Shape;132;p16"/>
          <p:cNvSpPr/>
          <p:nvPr/>
        </p:nvSpPr>
        <p:spPr>
          <a:xfrm>
            <a:off x="571500" y="4421534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809625" y="571500"/>
            <a:ext cx="1135141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DELAY RATE BREAKDOWN</a:t>
            </a:r>
            <a:endParaRPr dirty="0"/>
          </a:p>
        </p:txBody>
      </p:sp>
      <p:sp>
        <p:nvSpPr>
          <p:cNvPr id="134" name="Google Shape;134;p16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71500" y="1976437"/>
            <a:ext cx="55006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Inverse Correlation</a:t>
            </a:r>
            <a:endParaRPr dirty="0"/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2376487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 proves a direct relationship: as </a:t>
            </a:r>
            <a:r>
              <a:rPr lang="en-US" sz="13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delivery delay increases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customer </a:t>
            </a:r>
            <a:r>
              <a:rPr lang="en-US" sz="13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ratings decrease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exponentially.</a:t>
            </a:r>
            <a:endParaRPr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3096517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Outliers (+40 days) are highly correlated with 1-star reviews.</a:t>
            </a:r>
            <a:endParaRPr dirty="0"/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3835598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Platform churn is driven by catastrophic delivery failures.</a:t>
            </a:r>
            <a:endParaRPr dirty="0"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3938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78460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809625" y="571500"/>
            <a:ext cx="1135141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DELAY IMPACT ON SATISFACTION</a:t>
            </a:r>
            <a:endParaRPr dirty="0"/>
          </a:p>
        </p:txBody>
      </p:sp>
      <p:sp>
        <p:nvSpPr>
          <p:cNvPr id="149" name="Google Shape;149;p17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object 5">
            <a:extLst>
              <a:ext uri="{FF2B5EF4-FFF2-40B4-BE49-F238E27FC236}">
                <a16:creationId xmlns:a16="http://schemas.microsoft.com/office/drawing/2014/main" id="{EFD21551-F5B5-6DA6-935B-58FA1B00169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81750" y="1976437"/>
            <a:ext cx="5238750" cy="3509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389858"/>
            <a:ext cx="5238750" cy="1192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198596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6381750" y="1976437"/>
            <a:ext cx="55006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Parallel Percentile Gaps</a:t>
            </a:r>
            <a:endParaRPr dirty="0"/>
          </a:p>
        </p:txBody>
      </p:sp>
      <p:sp>
        <p:nvSpPr>
          <p:cNvPr id="159" name="Google Shape;159;p18"/>
          <p:cNvSpPr txBox="1"/>
          <p:nvPr/>
        </p:nvSpPr>
        <p:spPr>
          <a:xfrm>
            <a:off x="6381750" y="2376487"/>
            <a:ext cx="52387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Despite massive volume growth (2016-2018), delivery delay percentiles moved in </a:t>
            </a:r>
            <a:r>
              <a:rPr lang="en-US" sz="13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perfect sync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This proves a predictable, hardcoded software issue rather than random seller mistakes.</a:t>
            </a:r>
            <a:endParaRPr dirty="0"/>
          </a:p>
        </p:txBody>
      </p:sp>
      <p:sp>
        <p:nvSpPr>
          <p:cNvPr id="160" name="Google Shape;160;p18"/>
          <p:cNvSpPr txBox="1"/>
          <p:nvPr/>
        </p:nvSpPr>
        <p:spPr>
          <a:xfrm>
            <a:off x="6581775" y="3742283"/>
            <a:ext cx="48387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Reliability Gap: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Current estimates have wide ranges, preventing a predictable promise for premium consumer experiences.</a:t>
            </a:r>
            <a:endParaRPr dirty="0"/>
          </a:p>
        </p:txBody>
      </p:sp>
      <p:sp>
        <p:nvSpPr>
          <p:cNvPr id="161" name="Google Shape;161;p18"/>
          <p:cNvSpPr txBox="1"/>
          <p:nvPr/>
        </p:nvSpPr>
        <p:spPr>
          <a:xfrm>
            <a:off x="809625" y="571500"/>
            <a:ext cx="1135141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PERSISTENT SYSTEMIC RISK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809625" y="571500"/>
            <a:ext cx="4950618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CATEGORY SPECIFIC TRENDS</a:t>
            </a:r>
            <a:endParaRPr dirty="0"/>
          </a:p>
        </p:txBody>
      </p:sp>
      <p:sp>
        <p:nvSpPr>
          <p:cNvPr id="220" name="Google Shape;220;p22"/>
          <p:cNvSpPr/>
          <p:nvPr/>
        </p:nvSpPr>
        <p:spPr>
          <a:xfrm>
            <a:off x="571500" y="571500"/>
            <a:ext cx="57150" cy="10477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571500" y="2000250"/>
            <a:ext cx="52006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Bulky vs. Tech Goods</a:t>
            </a:r>
            <a:endParaRPr dirty="0"/>
          </a:p>
        </p:txBody>
      </p:sp>
      <p:sp>
        <p:nvSpPr>
          <p:cNvPr id="223" name="Google Shape;223;p22"/>
          <p:cNvSpPr txBox="1"/>
          <p:nvPr/>
        </p:nvSpPr>
        <p:spPr>
          <a:xfrm>
            <a:off x="571500" y="2400300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Product categories maintain acceptable median times but suffer from catastrophic outlier delays (+40 to +70 days).</a:t>
            </a:r>
            <a:endParaRPr dirty="0"/>
          </a:p>
        </p:txBody>
      </p:sp>
      <p:sp>
        <p:nvSpPr>
          <p:cNvPr id="224" name="Google Shape;224;p22"/>
          <p:cNvSpPr txBox="1"/>
          <p:nvPr/>
        </p:nvSpPr>
        <p:spPr>
          <a:xfrm>
            <a:off x="571500" y="4503241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Action: Rebuild the core delivery calculator.</a:t>
            </a:r>
            <a:endParaRPr dirty="0"/>
          </a:p>
        </p:txBody>
      </p:sp>
      <p:sp>
        <p:nvSpPr>
          <p:cNvPr id="225" name="Google Shape;225;p22"/>
          <p:cNvSpPr txBox="1"/>
          <p:nvPr/>
        </p:nvSpPr>
        <p:spPr>
          <a:xfrm>
            <a:off x="857250" y="311937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952500" y="3120330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Furniture/Decor: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Mishandling of heavy items.</a:t>
            </a:r>
            <a:endParaRPr dirty="0"/>
          </a:p>
        </p:txBody>
      </p:sp>
      <p:sp>
        <p:nvSpPr>
          <p:cNvPr id="227" name="Google Shape;227;p22"/>
          <p:cNvSpPr txBox="1"/>
          <p:nvPr/>
        </p:nvSpPr>
        <p:spPr>
          <a:xfrm>
            <a:off x="857250" y="33936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952500" y="3394620"/>
            <a:ext cx="4572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IT Accessories: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Inventory stockouts where labels are printed prematurely.</a:t>
            </a:r>
            <a:endParaRPr dirty="0"/>
          </a:p>
        </p:txBody>
      </p:sp>
      <p:sp>
        <p:nvSpPr>
          <p:cNvPr id="229" name="Google Shape;229;p22"/>
          <p:cNvSpPr txBox="1"/>
          <p:nvPr/>
        </p:nvSpPr>
        <p:spPr>
          <a:xfrm>
            <a:off x="857250" y="394224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952500" y="3943201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Sports/Leisure: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High transit volatility.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295275" y="1181100"/>
            <a:ext cx="11601450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2DD4BF"/>
                </a:solidFill>
                <a:latin typeface="Outfit"/>
                <a:ea typeface="Outfit"/>
                <a:cs typeface="Outfit"/>
                <a:sym typeface="Outfit"/>
              </a:rPr>
              <a:t>Technical Walkthrough</a:t>
            </a:r>
            <a:endParaRPr dirty="0"/>
          </a:p>
        </p:txBody>
      </p:sp>
      <p:sp>
        <p:nvSpPr>
          <p:cNvPr id="170" name="Google Shape;170;p19"/>
          <p:cNvSpPr txBox="1"/>
          <p:nvPr/>
        </p:nvSpPr>
        <p:spPr>
          <a:xfrm>
            <a:off x="571500" y="223837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 Engineering &amp; Pipeline Architecture</a:t>
            </a:r>
            <a:endParaRPr dirty="0"/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69243" y="2591505"/>
            <a:ext cx="4235513" cy="3058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05062"/>
            <a:ext cx="3492549" cy="2952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05062"/>
            <a:ext cx="3492549" cy="2952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05062"/>
            <a:ext cx="3492549" cy="295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962025" y="2795587"/>
            <a:ext cx="284707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BRONZE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962025" y="3252787"/>
            <a:ext cx="271149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Raw Ingestion</a:t>
            </a:r>
            <a:endParaRPr dirty="0"/>
          </a:p>
        </p:txBody>
      </p:sp>
      <p:sp>
        <p:nvSpPr>
          <p:cNvPr id="182" name="Google Shape;182;p20"/>
          <p:cNvSpPr txBox="1"/>
          <p:nvPr/>
        </p:nvSpPr>
        <p:spPr>
          <a:xfrm>
            <a:off x="962025" y="3698527"/>
            <a:ext cx="27114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Independent stream objects tracking exact data sources (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orders_stream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products_stream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sp>
        <p:nvSpPr>
          <p:cNvPr id="183" name="Google Shape;183;p20"/>
          <p:cNvSpPr txBox="1"/>
          <p:nvPr/>
        </p:nvSpPr>
        <p:spPr>
          <a:xfrm>
            <a:off x="4740324" y="2824162"/>
            <a:ext cx="284707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D4BF"/>
                </a:solidFill>
                <a:latin typeface="Outfit"/>
                <a:ea typeface="Outfit"/>
                <a:cs typeface="Outfit"/>
                <a:sym typeface="Outfit"/>
              </a:rPr>
              <a:t>SILVER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4740324" y="3281362"/>
            <a:ext cx="271149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Conformed Star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4740324" y="3727102"/>
            <a:ext cx="27114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Standardized business entities (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dim_seller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 and atomic transaction facts (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fct_order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sp>
        <p:nvSpPr>
          <p:cNvPr id="186" name="Google Shape;186;p20"/>
          <p:cNvSpPr txBox="1"/>
          <p:nvPr/>
        </p:nvSpPr>
        <p:spPr>
          <a:xfrm>
            <a:off x="8518624" y="2795587"/>
            <a:ext cx="284707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GOLD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8518624" y="3252787"/>
            <a:ext cx="2711499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Semantic Layer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8518624" y="3698527"/>
            <a:ext cx="2711499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Business-ready Views powering Sales Predictions and Delivery Optimization.</a:t>
            </a:r>
            <a:endParaRPr dirty="0"/>
          </a:p>
        </p:txBody>
      </p:sp>
      <p:sp>
        <p:nvSpPr>
          <p:cNvPr id="189" name="Google Shape;189;p20"/>
          <p:cNvSpPr txBox="1"/>
          <p:nvPr/>
        </p:nvSpPr>
        <p:spPr>
          <a:xfrm>
            <a:off x="809625" y="571500"/>
            <a:ext cx="1135141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MEDALLION DATA ARCHITECTURE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6" name="Google Shape;196;p21"/>
          <p:cNvGraphicFramePr/>
          <p:nvPr/>
        </p:nvGraphicFramePr>
        <p:xfrm>
          <a:off x="571500" y="2452687"/>
          <a:ext cx="11049000" cy="28573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2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Identified Risk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Impact / Cause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Mitigation Plan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Decay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Loss of historical context (SCD)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SCD Type 2 implementation with valid_from/to markers.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Traffic Congestion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Full table replication bottlenecks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Migration to Incremental Replication for high-volume logs.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Dependency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Stale data &amp; human error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Roadmap deployment of Dagster/Airflow orchestration.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Misattribution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Unfair partner penalties</a:t>
                      </a:r>
                      <a:endParaRPr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Decoupling Seller Lag from Carrier Transit Variance.</a:t>
                      </a:r>
                      <a:endParaRPr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7" name="Google Shape;197;p21"/>
          <p:cNvSpPr/>
          <p:nvPr/>
        </p:nvSpPr>
        <p:spPr>
          <a:xfrm>
            <a:off x="571500" y="3003202"/>
            <a:ext cx="2226617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2798117" y="3003202"/>
            <a:ext cx="3244601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6042719" y="3003202"/>
            <a:ext cx="5577780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571500" y="3587055"/>
            <a:ext cx="222661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2798117" y="3587055"/>
            <a:ext cx="324460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6042719" y="3587055"/>
            <a:ext cx="557778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71500" y="4156620"/>
            <a:ext cx="222661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2798117" y="4156620"/>
            <a:ext cx="324460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6042719" y="4156620"/>
            <a:ext cx="557778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571500" y="4726185"/>
            <a:ext cx="222661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2798117" y="4726185"/>
            <a:ext cx="324460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6042719" y="4726185"/>
            <a:ext cx="557778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571500" y="5295751"/>
            <a:ext cx="222661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2798117" y="5295751"/>
            <a:ext cx="324460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6042719" y="5295751"/>
            <a:ext cx="557778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809625" y="571500"/>
            <a:ext cx="1135141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RISKS AND MITIGATION STRATEGY</a:t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>
          <a:extLst>
            <a:ext uri="{FF2B5EF4-FFF2-40B4-BE49-F238E27FC236}">
              <a16:creationId xmlns:a16="http://schemas.microsoft.com/office/drawing/2014/main" id="{E26FFC7B-B0CE-2BC9-D72D-6D10A1074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2" descr="image.png">
            <a:extLst>
              <a:ext uri="{FF2B5EF4-FFF2-40B4-BE49-F238E27FC236}">
                <a16:creationId xmlns:a16="http://schemas.microsoft.com/office/drawing/2014/main" id="{491A22C4-4833-B74D-AD80-2F1DA674DA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05273" y="-1706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>
            <a:extLst>
              <a:ext uri="{FF2B5EF4-FFF2-40B4-BE49-F238E27FC236}">
                <a16:creationId xmlns:a16="http://schemas.microsoft.com/office/drawing/2014/main" id="{95447F97-E61C-972D-4312-8F371D0D3364}"/>
              </a:ext>
            </a:extLst>
          </p:cNvPr>
          <p:cNvSpPr txBox="1"/>
          <p:nvPr/>
        </p:nvSpPr>
        <p:spPr>
          <a:xfrm>
            <a:off x="809625" y="571500"/>
            <a:ext cx="495061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DATA ENGINEERING</a:t>
            </a:r>
            <a:endParaRPr lang="en-US" sz="3600" dirty="0"/>
          </a:p>
        </p:txBody>
      </p:sp>
      <p:sp>
        <p:nvSpPr>
          <p:cNvPr id="220" name="Google Shape;220;p22">
            <a:extLst>
              <a:ext uri="{FF2B5EF4-FFF2-40B4-BE49-F238E27FC236}">
                <a16:creationId xmlns:a16="http://schemas.microsoft.com/office/drawing/2014/main" id="{78950AFA-D861-A7D9-699C-340162492E2C}"/>
              </a:ext>
            </a:extLst>
          </p:cNvPr>
          <p:cNvSpPr/>
          <p:nvPr/>
        </p:nvSpPr>
        <p:spPr>
          <a:xfrm>
            <a:off x="571500" y="571500"/>
            <a:ext cx="57150" cy="10477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object 7">
            <a:extLst>
              <a:ext uri="{FF2B5EF4-FFF2-40B4-BE49-F238E27FC236}">
                <a16:creationId xmlns:a16="http://schemas.microsoft.com/office/drawing/2014/main" id="{ADF5BEA4-E79F-BA9C-D283-2DDADB44C8F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59794" y="170664"/>
            <a:ext cx="3384455" cy="4005217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8D32E7EF-4527-2D26-7958-AFCBBADD743A}"/>
              </a:ext>
            </a:extLst>
          </p:cNvPr>
          <p:cNvSpPr txBox="1">
            <a:spLocks/>
          </p:cNvSpPr>
          <p:nvPr/>
        </p:nvSpPr>
        <p:spPr>
          <a:xfrm>
            <a:off x="809625" y="1867661"/>
            <a:ext cx="5783006" cy="1962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17500" marR="120014" indent="-305435">
              <a:lnSpc>
                <a:spcPct val="114999"/>
              </a:lnSpc>
              <a:spcBef>
                <a:spcPts val="100"/>
              </a:spcBef>
              <a:buClr>
                <a:srgbClr val="1F2328"/>
              </a:buClr>
              <a:buFont typeface="Arial MT"/>
              <a:buChar char="●"/>
              <a:tabLst>
                <a:tab pos="317500" algn="l"/>
              </a:tabLst>
            </a:pPr>
            <a:r>
              <a:rPr lang="en-US" b="1" u="sng" dirty="0">
                <a:solidFill>
                  <a:schemeClr val="bg1"/>
                </a:solidFill>
                <a:uFill>
                  <a:solidFill>
                    <a:srgbClr val="00838F"/>
                  </a:solidFill>
                </a:uFill>
                <a:latin typeface="Inter" panose="020B0604020202020204" charset="0"/>
                <a:ea typeface="Inter" panose="020B0604020202020204" charset="0"/>
              </a:rPr>
              <a:t>Data</a:t>
            </a:r>
            <a:r>
              <a:rPr lang="en-US" b="1" u="sng" spc="-35" dirty="0">
                <a:solidFill>
                  <a:schemeClr val="bg1"/>
                </a:solidFill>
                <a:uFill>
                  <a:solidFill>
                    <a:srgbClr val="00838F"/>
                  </a:solidFill>
                </a:u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b="1" u="sng" dirty="0">
                <a:solidFill>
                  <a:schemeClr val="bg1"/>
                </a:solidFill>
                <a:uFill>
                  <a:solidFill>
                    <a:srgbClr val="00838F"/>
                  </a:solidFill>
                </a:uFill>
                <a:latin typeface="Inter" panose="020B0604020202020204" charset="0"/>
                <a:ea typeface="Inter" panose="020B0604020202020204" charset="0"/>
              </a:rPr>
              <a:t>Ingestion</a:t>
            </a:r>
            <a:r>
              <a:rPr lang="en-US" b="1" u="sng" spc="-30" dirty="0">
                <a:solidFill>
                  <a:schemeClr val="bg1"/>
                </a:solidFill>
                <a:uFill>
                  <a:solidFill>
                    <a:srgbClr val="00838F"/>
                  </a:solidFill>
                </a:u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b="1" u="sng" dirty="0">
                <a:solidFill>
                  <a:schemeClr val="bg1"/>
                </a:solidFill>
                <a:uFill>
                  <a:solidFill>
                    <a:srgbClr val="00838F"/>
                  </a:solidFill>
                </a:uFill>
                <a:latin typeface="Inter" panose="020B0604020202020204" charset="0"/>
                <a:ea typeface="Inter" panose="020B0604020202020204" charset="0"/>
              </a:rPr>
              <a:t>&amp;</a:t>
            </a:r>
            <a:r>
              <a:rPr lang="en-US" b="1" u="sng" spc="-35" dirty="0">
                <a:solidFill>
                  <a:schemeClr val="bg1"/>
                </a:solidFill>
                <a:uFill>
                  <a:solidFill>
                    <a:srgbClr val="00838F"/>
                  </a:solidFill>
                </a:u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b="1" u="sng" dirty="0">
                <a:solidFill>
                  <a:schemeClr val="bg1"/>
                </a:solidFill>
                <a:uFill>
                  <a:solidFill>
                    <a:srgbClr val="00838F"/>
                  </a:solidFill>
                </a:uFill>
                <a:latin typeface="Inter" panose="020B0604020202020204" charset="0"/>
                <a:ea typeface="Inter" panose="020B0604020202020204" charset="0"/>
              </a:rPr>
              <a:t>Storage</a:t>
            </a:r>
            <a:r>
              <a:rPr lang="en-US" b="1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:</a:t>
            </a:r>
            <a:r>
              <a:rPr lang="en-US" b="1" spc="-3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</a:rPr>
              <a:t>Establishing the landing zone for raw operational data into the warehouse layer.</a:t>
            </a:r>
          </a:p>
          <a:p>
            <a:pPr marL="317500" marR="120014" indent="-305435">
              <a:lnSpc>
                <a:spcPct val="114999"/>
              </a:lnSpc>
              <a:spcBef>
                <a:spcPts val="100"/>
              </a:spcBef>
              <a:buClr>
                <a:srgbClr val="1F2328"/>
              </a:buClr>
              <a:buFont typeface="Arial MT"/>
              <a:buChar char="●"/>
              <a:tabLst>
                <a:tab pos="317500" algn="l"/>
              </a:tabLst>
            </a:pPr>
            <a:endParaRPr lang="en-US" sz="1350" dirty="0">
              <a:solidFill>
                <a:srgbClr val="94A3B8"/>
              </a:solidFill>
              <a:latin typeface="Inter"/>
              <a:ea typeface="Inter"/>
            </a:endParaRPr>
          </a:p>
          <a:p>
            <a:pPr marL="317500" marR="5080" indent="-305435">
              <a:lnSpc>
                <a:spcPct val="114999"/>
              </a:lnSpc>
              <a:buClr>
                <a:srgbClr val="1F2328"/>
              </a:buClr>
              <a:buFont typeface="Arial MT"/>
              <a:buChar char="●"/>
              <a:tabLst>
                <a:tab pos="317500" algn="l"/>
              </a:tabLst>
            </a:pPr>
            <a:r>
              <a:rPr lang="en-US" b="1" u="sng" dirty="0">
                <a:solidFill>
                  <a:schemeClr val="bg1"/>
                </a:solidFill>
                <a:uFill>
                  <a:solidFill>
                    <a:srgbClr val="00838F"/>
                  </a:solidFill>
                </a:uFill>
                <a:latin typeface="Inter" panose="020B0604020202020204" charset="0"/>
                <a:ea typeface="Inter" panose="020B0604020202020204" charset="0"/>
              </a:rPr>
              <a:t>Data</a:t>
            </a:r>
            <a:r>
              <a:rPr lang="en-US" b="1" u="sng" spc="-25" dirty="0">
                <a:solidFill>
                  <a:schemeClr val="bg1"/>
                </a:solidFill>
                <a:uFill>
                  <a:solidFill>
                    <a:srgbClr val="00838F"/>
                  </a:solidFill>
                </a:u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b="1" u="sng" spc="-10" dirty="0">
                <a:solidFill>
                  <a:schemeClr val="bg1"/>
                </a:solidFill>
                <a:uFill>
                  <a:solidFill>
                    <a:srgbClr val="00838F"/>
                  </a:solidFill>
                </a:uFill>
                <a:latin typeface="Inter" panose="020B0604020202020204" charset="0"/>
                <a:ea typeface="Inter" panose="020B0604020202020204" charset="0"/>
              </a:rPr>
              <a:t>Warehouse</a:t>
            </a:r>
            <a:r>
              <a:rPr lang="en-US" b="1" u="sng" spc="-25" dirty="0">
                <a:solidFill>
                  <a:schemeClr val="bg1"/>
                </a:solidFill>
                <a:uFill>
                  <a:solidFill>
                    <a:srgbClr val="00838F"/>
                  </a:solidFill>
                </a:u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b="1" u="sng" dirty="0">
                <a:solidFill>
                  <a:schemeClr val="bg1"/>
                </a:solidFill>
                <a:uFill>
                  <a:solidFill>
                    <a:srgbClr val="00838F"/>
                  </a:solidFill>
                </a:uFill>
                <a:latin typeface="Inter" panose="020B0604020202020204" charset="0"/>
                <a:ea typeface="Inter" panose="020B0604020202020204" charset="0"/>
              </a:rPr>
              <a:t>Design</a:t>
            </a:r>
            <a:r>
              <a:rPr lang="en-US" b="1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:</a:t>
            </a:r>
            <a:r>
              <a:rPr lang="en-US" b="1" spc="-25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</a:rPr>
              <a:t>Enforcing the Kimball framework by designing dedicated Fact and Dimension tables and arrive at star schema.</a:t>
            </a:r>
          </a:p>
          <a:p>
            <a:pPr marL="317500" marR="74930" indent="-305435">
              <a:lnSpc>
                <a:spcPct val="114999"/>
              </a:lnSpc>
              <a:buClr>
                <a:srgbClr val="1F2328"/>
              </a:buClr>
              <a:buFont typeface="Arial MT"/>
              <a:buChar char="●"/>
              <a:tabLst>
                <a:tab pos="317500" algn="l"/>
              </a:tabLst>
            </a:pPr>
            <a:r>
              <a:rPr lang="en-US" b="1" u="sng" spc="-20" dirty="0">
                <a:solidFill>
                  <a:schemeClr val="bg1"/>
                </a:solidFill>
                <a:uFill>
                  <a:solidFill>
                    <a:srgbClr val="00838F"/>
                  </a:solidFill>
                </a:uFill>
                <a:latin typeface="Inter" panose="020B0604020202020204" charset="0"/>
                <a:ea typeface="Inter" panose="020B0604020202020204" charset="0"/>
              </a:rPr>
              <a:t>ELT</a:t>
            </a:r>
            <a:r>
              <a:rPr lang="en-US" b="1" u="sng" spc="-35" dirty="0">
                <a:solidFill>
                  <a:schemeClr val="bg1"/>
                </a:solidFill>
                <a:uFill>
                  <a:solidFill>
                    <a:srgbClr val="00838F"/>
                  </a:solidFill>
                </a:u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b="1" u="sng" dirty="0">
                <a:solidFill>
                  <a:schemeClr val="bg1"/>
                </a:solidFill>
                <a:uFill>
                  <a:solidFill>
                    <a:srgbClr val="00838F"/>
                  </a:solidFill>
                </a:uFill>
                <a:latin typeface="Inter" panose="020B0604020202020204" charset="0"/>
                <a:ea typeface="Inter" panose="020B0604020202020204" charset="0"/>
              </a:rPr>
              <a:t>Pipeline</a:t>
            </a:r>
            <a:r>
              <a:rPr lang="en-US" b="1" u="sng" spc="-35" dirty="0">
                <a:solidFill>
                  <a:schemeClr val="bg1"/>
                </a:solidFill>
                <a:uFill>
                  <a:solidFill>
                    <a:srgbClr val="00838F"/>
                  </a:solidFill>
                </a:u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b="1" u="sng" dirty="0">
                <a:solidFill>
                  <a:schemeClr val="bg1"/>
                </a:solidFill>
                <a:uFill>
                  <a:solidFill>
                    <a:srgbClr val="00838F"/>
                  </a:solidFill>
                </a:uFill>
                <a:latin typeface="Inter" panose="020B0604020202020204" charset="0"/>
                <a:ea typeface="Inter" panose="020B0604020202020204" charset="0"/>
              </a:rPr>
              <a:t>(</a:t>
            </a:r>
            <a:r>
              <a:rPr lang="en-US" b="1" u="sng" dirty="0" err="1">
                <a:solidFill>
                  <a:schemeClr val="bg1"/>
                </a:solidFill>
                <a:uFill>
                  <a:solidFill>
                    <a:srgbClr val="00838F"/>
                  </a:solidFill>
                </a:uFill>
                <a:latin typeface="Inter" panose="020B0604020202020204" charset="0"/>
                <a:ea typeface="Inter" panose="020B0604020202020204" charset="0"/>
              </a:rPr>
              <a:t>dbt</a:t>
            </a:r>
            <a:r>
              <a:rPr lang="en-US" b="1" u="sng" dirty="0">
                <a:solidFill>
                  <a:schemeClr val="bg1"/>
                </a:solidFill>
                <a:uFill>
                  <a:solidFill>
                    <a:srgbClr val="00838F"/>
                  </a:solidFill>
                </a:uFill>
                <a:latin typeface="Inter" panose="020B0604020202020204" charset="0"/>
                <a:ea typeface="Inter" panose="020B0604020202020204" charset="0"/>
              </a:rPr>
              <a:t>)</a:t>
            </a:r>
            <a:r>
              <a:rPr lang="en-US" b="1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:</a:t>
            </a:r>
            <a:r>
              <a:rPr lang="en-US" b="1" spc="-3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350" dirty="0">
                <a:solidFill>
                  <a:srgbClr val="94A3B8"/>
                </a:solidFill>
                <a:latin typeface="Inter"/>
                <a:ea typeface="Inter"/>
              </a:rPr>
              <a:t>Processing, cleaning, and normalizing data into Staging models before building the final Data Mart layer.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26DD23DD-3135-7E19-13E4-10582D4ED3E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34073" y="4285136"/>
            <a:ext cx="8288461" cy="229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95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99394"/>
            <a:ext cx="3492549" cy="3164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99394"/>
            <a:ext cx="3492549" cy="3164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99394"/>
            <a:ext cx="3492549" cy="316408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962025" y="3347144"/>
            <a:ext cx="284707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CFO Office</a:t>
            </a:r>
            <a:endParaRPr dirty="0"/>
          </a:p>
        </p:txBody>
      </p:sp>
      <p:sp>
        <p:nvSpPr>
          <p:cNvPr id="240" name="Google Shape;240;p23"/>
          <p:cNvSpPr txBox="1"/>
          <p:nvPr/>
        </p:nvSpPr>
        <p:spPr>
          <a:xfrm>
            <a:off x="962025" y="3804344"/>
            <a:ext cx="27114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Approve budget for </a:t>
            </a:r>
            <a:r>
              <a:rPr lang="en-US" sz="13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Outlier Management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and revised estimation models to address pessimistic bias.</a:t>
            </a:r>
            <a:endParaRPr dirty="0"/>
          </a:p>
        </p:txBody>
      </p:sp>
      <p:sp>
        <p:nvSpPr>
          <p:cNvPr id="241" name="Google Shape;241;p23"/>
          <p:cNvSpPr txBox="1"/>
          <p:nvPr/>
        </p:nvSpPr>
        <p:spPr>
          <a:xfrm>
            <a:off x="4740324" y="3347144"/>
            <a:ext cx="284707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Logistics Ops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4740324" y="3804344"/>
            <a:ext cx="27114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Investigate systemic bottlenecks in </a:t>
            </a:r>
            <a:r>
              <a:rPr lang="en-US" sz="13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State RJ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and audit partners mishandling bulky goods.</a:t>
            </a:r>
            <a:endParaRPr dirty="0"/>
          </a:p>
        </p:txBody>
      </p:sp>
      <p:sp>
        <p:nvSpPr>
          <p:cNvPr id="243" name="Google Shape;243;p23"/>
          <p:cNvSpPr txBox="1"/>
          <p:nvPr/>
        </p:nvSpPr>
        <p:spPr>
          <a:xfrm>
            <a:off x="8518624" y="3347144"/>
            <a:ext cx="284707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Data Science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8518624" y="3804344"/>
            <a:ext cx="27114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Identify failure modes for extreme delays and decouple </a:t>
            </a:r>
            <a:r>
              <a:rPr lang="en-US" sz="13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handover timestamps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from transit times.</a:t>
            </a:r>
            <a:endParaRPr dirty="0"/>
          </a:p>
        </p:txBody>
      </p:sp>
      <p:pic>
        <p:nvPicPr>
          <p:cNvPr id="245" name="Google Shape;245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72801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324" y="2728019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624" y="2728019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809625" y="571500"/>
            <a:ext cx="1135141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SUMMARY OF STRATEGIC ACTIONS</a:t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4250769" y="571500"/>
            <a:ext cx="445590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2DD4BF"/>
                </a:solidFill>
                <a:latin typeface="Outfit"/>
                <a:ea typeface="Outfit"/>
                <a:cs typeface="Outfit"/>
                <a:sym typeface="Outfit"/>
              </a:rPr>
              <a:t>Questions?</a:t>
            </a:r>
            <a:endParaRPr dirty="0"/>
          </a:p>
        </p:txBody>
      </p:sp>
      <p:sp>
        <p:nvSpPr>
          <p:cNvPr id="256" name="Google Shape;256;p24"/>
          <p:cNvSpPr txBox="1"/>
          <p:nvPr/>
        </p:nvSpPr>
        <p:spPr>
          <a:xfrm>
            <a:off x="4338637" y="1628775"/>
            <a:ext cx="3514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Thank you for your attention.</a:t>
            </a:r>
            <a:endParaRPr dirty="0"/>
          </a:p>
        </p:txBody>
      </p:sp>
      <p:sp>
        <p:nvSpPr>
          <p:cNvPr id="257" name="Google Shape;257;p24"/>
          <p:cNvSpPr txBox="1"/>
          <p:nvPr/>
        </p:nvSpPr>
        <p:spPr>
          <a:xfrm>
            <a:off x="4338637" y="2409825"/>
            <a:ext cx="35147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github.com/</a:t>
            </a:r>
            <a:r>
              <a:rPr lang="en-US" sz="975" b="0" i="0" u="none" strike="noStrike" cap="none" dirty="0" err="1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zeroonyx</a:t>
            </a:r>
            <a:r>
              <a:rPr lang="en-US" sz="975" b="0" i="0" u="none" strike="noStrike" cap="none" dirty="0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/project-repo</a:t>
            </a:r>
            <a:endParaRPr dirty="0"/>
          </a:p>
        </p:txBody>
      </p:sp>
      <p:pic>
        <p:nvPicPr>
          <p:cNvPr id="258" name="Google Shape;25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4953000"/>
            <a:ext cx="12192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592</Words>
  <Application>Microsoft Office PowerPoint</Application>
  <PresentationFormat>Widescreen</PresentationFormat>
  <Paragraphs>83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Arial MT</vt:lpstr>
      <vt:lpstr>Calibri</vt:lpstr>
      <vt:lpstr>Inter</vt:lpstr>
      <vt:lpstr>Inter Medium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Nainar Mohamed Sheik Mohideen</dc:creator>
  <cp:lastModifiedBy>Nainar Mohamed Sheik Mohideen</cp:lastModifiedBy>
  <cp:revision>6</cp:revision>
  <dcterms:created xsi:type="dcterms:W3CDTF">2026-06-19T03:36:58Z</dcterms:created>
  <dcterms:modified xsi:type="dcterms:W3CDTF">2026-06-19T03:40:54Z</dcterms:modified>
</cp:coreProperties>
</file>