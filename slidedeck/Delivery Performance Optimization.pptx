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00503000000020004" pitchFamily="2" charset="0"/>
      <p:regular r:id="rId15"/>
      <p:bold r:id="rId16"/>
      <p:italic r:id="rId17"/>
      <p:boldItalic r:id="rId18"/>
    </p:embeddedFont>
    <p:embeddedFont>
      <p:font typeface="Inter Medium" panose="02000503000000020004" pitchFamily="2" charset="0"/>
      <p:regular r:id="rId19"/>
      <p:bold r:id="rId20"/>
      <p:italic r:id="rId21"/>
      <p:boldItalic r:id="rId22"/>
    </p:embeddedFont>
    <p:embeddedFont>
      <p:font typeface="Outfit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0DFD5B-D630-4AB4-B8BA-98C46AF948E3}">
  <a:tblStyle styleId="{EB0DFD5B-D630-4AB4-B8BA-98C46AF948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81"/>
    <p:restoredTop sz="94663"/>
  </p:normalViewPr>
  <p:slideViewPr>
    <p:cSldViewPr snapToGrid="0">
      <p:cViewPr varScale="1">
        <p:scale>
          <a:sx n="52" d="100"/>
          <a:sy n="52" d="100"/>
        </p:scale>
        <p:origin x="216" y="9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47887" y="800100"/>
            <a:ext cx="7896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D4BF"/>
                </a:solidFill>
                <a:latin typeface="Inter Medium"/>
                <a:ea typeface="Inter Medium"/>
                <a:cs typeface="Inter Medium"/>
                <a:sym typeface="Inter Medium"/>
              </a:rPr>
              <a:t>OLIST E-COMMERCE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47887" y="1394370"/>
            <a:ext cx="8291036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Delivery Performance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 Optimization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47887" y="3493442"/>
            <a:ext cx="7896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NTU SCTP DSAI COHORT 5 | TEAM 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Ethan, Reeve, Tony, Nainar, Tom, Shicong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0" y="3905250"/>
            <a:ext cx="3810000" cy="25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1782"/>
            <a:ext cx="5238750" cy="2232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51782"/>
            <a:ext cx="5238750" cy="223257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496535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Value Proposition: Empowering operations through SLA optimization and enhanced partner accountability.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2742307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Core Purpose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199507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Identify operational bottlenecks in Olist's fulfillment process by isolating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seller processing lag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from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carrier transit variance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2742307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Strategic Focus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199507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Targeting outlier management (e.g., severe delays in Rio de Janeiro) and improving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delivery estimation accuracy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reduce customer churn.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EXECUTIVE SUMMARY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3669"/>
            <a:ext cx="3492549" cy="3335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13669"/>
            <a:ext cx="3492549" cy="3335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13669"/>
            <a:ext cx="3492549" cy="333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62025" y="3261419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Early Delivery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3718619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90.62%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4164359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Suggests over-pessimistic estimation bias at checkout to protect reputation.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740324" y="3261419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Late Delivery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740324" y="3718619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6.59%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40324" y="4164359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Baseline failure rate driving negative reviews and high support tickets.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18624" y="3261419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On-Time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18624" y="3718619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2.78%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18624" y="4164359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Deliveries landing precisely inside the final committed SLA window.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6422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6422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64229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TIMELINE PERFORMANCE METRICS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351418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4612034"/>
            <a:ext cx="11049000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Operational red flag at the warehouse level. Over 40% of delays occur </a:t>
            </a:r>
            <a:r>
              <a:rPr lang="en-US" sz="13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carrier receives the package, highlighting inventory picking lags.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4421534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DELAY RATE BREAKDOWN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1976437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Inverse Correlation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376487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proves a direct relationship: as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delivery delay increases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customer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ratings decrease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exponentially.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096517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Outliers (+40 days) are highly correlated with 1-star reviews.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835598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Platform churn is driven by catastrophic delivery failures.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393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7846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DELAY IMPACT ON SATISFACTION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EFD21551-F5B5-6DA6-935B-58FA1B00169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1750" y="1976437"/>
            <a:ext cx="5238750" cy="3509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389858"/>
            <a:ext cx="5238750" cy="1192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381750" y="1976437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Parallel Percentile Gaps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2376487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Despite massive volume growth (2016-2018), delivery delay percentiles moved in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perfect sync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This proves a predictable, hardcoded software issue rather than random seller mistakes.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581775" y="3742283"/>
            <a:ext cx="48387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Reliability Gap: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Current estimates have wide ranges, preventing a predictable promise for premium consumer experiences.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PERSISTENT SYSTEMIC RISK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95275" y="1181100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Technical Walkthrough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223837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Engineering &amp; Pipeline Architecture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9243" y="2591505"/>
            <a:ext cx="4235513" cy="305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5062"/>
            <a:ext cx="3492549" cy="295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05062"/>
            <a:ext cx="3492549" cy="295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05062"/>
            <a:ext cx="3492549" cy="29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62025" y="2795587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BRONZE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62025" y="3252787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Raw Ingestion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62025" y="3698527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Independent stream objects tracking exact data sources (orders_stream, products_stream).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4740324" y="2824162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SILVER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740324" y="3281362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Conformed Star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740324" y="3727102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Standardized business entities (dim_seller) and atomic transaction facts (fct_order).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518624" y="2795587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GOLD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518624" y="3252787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Semantic Layer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518624" y="3698527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Business-ready Materialized Views powering Sales Predictions and Delivery Optimization.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MEDALLION DATA ARCHITECTURE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21"/>
          <p:cNvGraphicFramePr/>
          <p:nvPr>
            <p:extLst>
              <p:ext uri="{D42A27DB-BD31-4B8C-83A1-F6EECF244321}">
                <p14:modId xmlns:p14="http://schemas.microsoft.com/office/powerpoint/2010/main" val="272757336"/>
              </p:ext>
            </p:extLst>
          </p:nvPr>
        </p:nvGraphicFramePr>
        <p:xfrm>
          <a:off x="571500" y="2452687"/>
          <a:ext cx="11049000" cy="2857375"/>
        </p:xfrm>
        <a:graphic>
          <a:graphicData uri="http://schemas.openxmlformats.org/drawingml/2006/table">
            <a:tbl>
              <a:tblPr firstRow="1" bandRow="1">
                <a:noFill/>
                <a:tableStyleId>{EB0DFD5B-D630-4AB4-B8BA-98C46AF948E3}</a:tableStyleId>
              </a:tblPr>
              <a:tblGrid>
                <a:gridCol w="222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Identified Risk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 / Cause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Mitigation Plan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Decay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Loss of historical context (SCD)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SCD Type 2 implementation with valid_from/to markers.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Traffic Congestion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table replication bottlenecks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Migration to Incremental Replication for high-volume logs.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Dependency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Stale data &amp; human error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Roadmap deployment of Dagster/Airflow orchestration.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Misattribution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Unfair partner penalties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Decoupling Seller Lag from Carrier Transit Variance.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7" name="Google Shape;197;p21"/>
          <p:cNvSpPr/>
          <p:nvPr/>
        </p:nvSpPr>
        <p:spPr>
          <a:xfrm>
            <a:off x="571500" y="3003202"/>
            <a:ext cx="2226617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798117" y="3003202"/>
            <a:ext cx="3244601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042719" y="3003202"/>
            <a:ext cx="557778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3587055"/>
            <a:ext cx="222661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798117" y="3587055"/>
            <a:ext cx="324460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042719" y="3587055"/>
            <a:ext cx="55777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4156620"/>
            <a:ext cx="222661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2798117" y="4156620"/>
            <a:ext cx="324460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042719" y="4156620"/>
            <a:ext cx="55777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4726185"/>
            <a:ext cx="222661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798117" y="4726185"/>
            <a:ext cx="324460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042719" y="4726185"/>
            <a:ext cx="55777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71500" y="5295751"/>
            <a:ext cx="222661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2798117" y="5295751"/>
            <a:ext cx="324460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042719" y="5295751"/>
            <a:ext cx="55777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RISKS AND MITIGATION STRATEGY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809625" y="571500"/>
            <a:ext cx="495061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CATEGORY SPECIFIC TRENDS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571500"/>
            <a:ext cx="57150" cy="1047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571500" y="2000250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Bulky vs. Tech Goods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240030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 categories maintain acceptable median times but suffer from catastrophic outlier delays (+40 to +70 days).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450324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Action: Rebuild the core delivery calculator.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857250" y="31193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52500" y="312033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Furniture/Decor: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Mishandling of heavy items.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57250" y="33936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52500" y="3394620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IT Accessories: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Inventory stockouts where labels are printed prematurely.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57250" y="394224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952500" y="3943201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Sports/Leisure: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 transit volatility.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9394"/>
            <a:ext cx="3492549" cy="316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99394"/>
            <a:ext cx="3492549" cy="316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99394"/>
            <a:ext cx="3492549" cy="316408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962025" y="3347144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CFO Office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962025" y="3804344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Approve budget for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Outlier Management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revised estimation models to address pessimistic bias.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4740324" y="3347144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Logistics Ops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740324" y="3804344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Investigate systemic bottlenecks in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State RJ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audit partners mishandling bulky goods.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518624" y="3347144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Data Science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518624" y="3804344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Identify failure modes for extreme delays and decouple </a:t>
            </a: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handover timestamps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from transit times.</a:t>
            </a:r>
            <a:endParaRPr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7280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72801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72801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SUMMARY OF STRATEGIC ACTIONS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4250769" y="571500"/>
            <a:ext cx="3690461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Questions?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4338637" y="1628775"/>
            <a:ext cx="3514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4338637" y="2409825"/>
            <a:ext cx="35147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github.com/zeroonyx/project-repo</a:t>
            </a:r>
            <a:endParaRPr/>
          </a:p>
        </p:txBody>
      </p:sp>
      <p:pic>
        <p:nvPicPr>
          <p:cNvPr id="258" name="Google Shape;25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953000"/>
            <a:ext cx="12192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Macintosh PowerPoint</Application>
  <PresentationFormat>Widescreen</PresentationFormat>
  <Paragraphs>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Inter Medium</vt:lpstr>
      <vt:lpstr>Outfit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Reeve Lin</cp:lastModifiedBy>
  <cp:revision>1</cp:revision>
  <dcterms:modified xsi:type="dcterms:W3CDTF">2026-06-18T11:52:51Z</dcterms:modified>
</cp:coreProperties>
</file>